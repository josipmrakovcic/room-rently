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8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69" r:id="rId10"/>
    <p:sldId id="277" r:id="rId11"/>
    <p:sldId id="261" r:id="rId12"/>
    <p:sldId id="275" r:id="rId13"/>
    <p:sldId id="260" r:id="rId14"/>
    <p:sldId id="262" r:id="rId15"/>
    <p:sldId id="278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29C752-E5B8-44C0-A164-62F71ADC1C8B}" v="28" dt="2026-01-20T21:09:34.950"/>
    <p1510:client id="{D04707A1-F903-4E24-8552-054463CC3681}" v="76" dt="2026-01-20T11:54:52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102" d="100"/>
          <a:sy n="102" d="100"/>
        </p:scale>
        <p:origin x="1284" y="72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 Rešetar" userId="3a80b37480c980f6" providerId="LiveId" clId="{F988F6B9-8ECB-4F81-84EF-333CD554F6F8}"/>
    <pc:docChg chg="undo custSel addSld delSld modSld">
      <pc:chgData name="Noa Rešetar" userId="3a80b37480c980f6" providerId="LiveId" clId="{F988F6B9-8ECB-4F81-84EF-333CD554F6F8}" dt="2026-01-20T21:23:45.537" v="1182" actId="20577"/>
      <pc:docMkLst>
        <pc:docMk/>
      </pc:docMkLst>
      <pc:sldChg chg="modSp mod">
        <pc:chgData name="Noa Rešetar" userId="3a80b37480c980f6" providerId="LiveId" clId="{F988F6B9-8ECB-4F81-84EF-333CD554F6F8}" dt="2026-01-20T20:57:17.277" v="804" actId="27636"/>
        <pc:sldMkLst>
          <pc:docMk/>
          <pc:sldMk cId="3389772446" sldId="260"/>
        </pc:sldMkLst>
        <pc:spChg chg="mod">
          <ac:chgData name="Noa Rešetar" userId="3a80b37480c980f6" providerId="LiveId" clId="{F988F6B9-8ECB-4F81-84EF-333CD554F6F8}" dt="2026-01-20T20:57:17.277" v="804" actId="27636"/>
          <ac:spMkLst>
            <pc:docMk/>
            <pc:sldMk cId="3389772446" sldId="260"/>
            <ac:spMk id="3" creationId="{00000000-0000-0000-0000-000000000000}"/>
          </ac:spMkLst>
        </pc:spChg>
      </pc:sldChg>
      <pc:sldChg chg="modSp mod">
        <pc:chgData name="Noa Rešetar" userId="3a80b37480c980f6" providerId="LiveId" clId="{F988F6B9-8ECB-4F81-84EF-333CD554F6F8}" dt="2026-01-20T21:20:22.586" v="1172" actId="255"/>
        <pc:sldMkLst>
          <pc:docMk/>
          <pc:sldMk cId="3657354464" sldId="261"/>
        </pc:sldMkLst>
        <pc:spChg chg="mod">
          <ac:chgData name="Noa Rešetar" userId="3a80b37480c980f6" providerId="LiveId" clId="{F988F6B9-8ECB-4F81-84EF-333CD554F6F8}" dt="2026-01-20T21:20:22.586" v="1172" actId="255"/>
          <ac:spMkLst>
            <pc:docMk/>
            <pc:sldMk cId="3657354464" sldId="261"/>
            <ac:spMk id="3" creationId="{00000000-0000-0000-0000-000000000000}"/>
          </ac:spMkLst>
        </pc:spChg>
      </pc:sldChg>
      <pc:sldChg chg="modSp mod">
        <pc:chgData name="Noa Rešetar" userId="3a80b37480c980f6" providerId="LiveId" clId="{F988F6B9-8ECB-4F81-84EF-333CD554F6F8}" dt="2026-01-20T21:22:54.695" v="1181" actId="255"/>
        <pc:sldMkLst>
          <pc:docMk/>
          <pc:sldMk cId="4285223946" sldId="262"/>
        </pc:sldMkLst>
        <pc:spChg chg="mod">
          <ac:chgData name="Noa Rešetar" userId="3a80b37480c980f6" providerId="LiveId" clId="{F988F6B9-8ECB-4F81-84EF-333CD554F6F8}" dt="2026-01-20T21:22:54.695" v="1181" actId="255"/>
          <ac:spMkLst>
            <pc:docMk/>
            <pc:sldMk cId="4285223946" sldId="262"/>
            <ac:spMk id="3" creationId="{00000000-0000-0000-0000-000000000000}"/>
          </ac:spMkLst>
        </pc:spChg>
      </pc:sldChg>
      <pc:sldChg chg="modSp mod">
        <pc:chgData name="Noa Rešetar" userId="3a80b37480c980f6" providerId="LiveId" clId="{F988F6B9-8ECB-4F81-84EF-333CD554F6F8}" dt="2026-01-20T21:23:45.537" v="1182" actId="20577"/>
        <pc:sldMkLst>
          <pc:docMk/>
          <pc:sldMk cId="48259320" sldId="263"/>
        </pc:sldMkLst>
        <pc:spChg chg="mod">
          <ac:chgData name="Noa Rešetar" userId="3a80b37480c980f6" providerId="LiveId" clId="{F988F6B9-8ECB-4F81-84EF-333CD554F6F8}" dt="2026-01-20T21:23:45.537" v="1182" actId="20577"/>
          <ac:spMkLst>
            <pc:docMk/>
            <pc:sldMk cId="48259320" sldId="263"/>
            <ac:spMk id="3" creationId="{00000000-0000-0000-0000-000000000000}"/>
          </ac:spMkLst>
        </pc:spChg>
      </pc:sldChg>
      <pc:sldChg chg="del">
        <pc:chgData name="Noa Rešetar" userId="3a80b37480c980f6" providerId="LiveId" clId="{F988F6B9-8ECB-4F81-84EF-333CD554F6F8}" dt="2026-01-20T21:14:18.885" v="1155" actId="2696"/>
        <pc:sldMkLst>
          <pc:docMk/>
          <pc:sldMk cId="3641737146" sldId="264"/>
        </pc:sldMkLst>
      </pc:sldChg>
      <pc:sldChg chg="modSp mod">
        <pc:chgData name="Noa Rešetar" userId="3a80b37480c980f6" providerId="LiveId" clId="{F988F6B9-8ECB-4F81-84EF-333CD554F6F8}" dt="2026-01-20T21:16:07.086" v="1160" actId="20577"/>
        <pc:sldMkLst>
          <pc:docMk/>
          <pc:sldMk cId="1839409896" sldId="268"/>
        </pc:sldMkLst>
        <pc:spChg chg="mod">
          <ac:chgData name="Noa Rešetar" userId="3a80b37480c980f6" providerId="LiveId" clId="{F988F6B9-8ECB-4F81-84EF-333CD554F6F8}" dt="2026-01-20T21:16:07.086" v="1160" actId="20577"/>
          <ac:spMkLst>
            <pc:docMk/>
            <pc:sldMk cId="1839409896" sldId="268"/>
            <ac:spMk id="3" creationId="{F4FDC0A7-2EBE-B97D-F71C-97BD62047FF6}"/>
          </ac:spMkLst>
        </pc:spChg>
      </pc:sldChg>
      <pc:sldChg chg="modSp mod">
        <pc:chgData name="Noa Rešetar" userId="3a80b37480c980f6" providerId="LiveId" clId="{F988F6B9-8ECB-4F81-84EF-333CD554F6F8}" dt="2026-01-20T21:19:15.506" v="1163" actId="1076"/>
        <pc:sldMkLst>
          <pc:docMk/>
          <pc:sldMk cId="4261244465" sldId="269"/>
        </pc:sldMkLst>
        <pc:picChg chg="mod">
          <ac:chgData name="Noa Rešetar" userId="3a80b37480c980f6" providerId="LiveId" clId="{F988F6B9-8ECB-4F81-84EF-333CD554F6F8}" dt="2026-01-20T21:19:15.506" v="1163" actId="1076"/>
          <ac:picMkLst>
            <pc:docMk/>
            <pc:sldMk cId="4261244465" sldId="269"/>
            <ac:picMk id="1028" creationId="{47878EA3-90A0-5677-EB24-7EEB813E290A}"/>
          </ac:picMkLst>
        </pc:picChg>
      </pc:sldChg>
      <pc:sldChg chg="del">
        <pc:chgData name="Noa Rešetar" userId="3a80b37480c980f6" providerId="LiveId" clId="{F988F6B9-8ECB-4F81-84EF-333CD554F6F8}" dt="2026-01-20T21:09:24.926" v="1026" actId="2696"/>
        <pc:sldMkLst>
          <pc:docMk/>
          <pc:sldMk cId="3208602946" sldId="274"/>
        </pc:sldMkLst>
      </pc:sldChg>
      <pc:sldChg chg="modSp mod">
        <pc:chgData name="Noa Rešetar" userId="3a80b37480c980f6" providerId="LiveId" clId="{F988F6B9-8ECB-4F81-84EF-333CD554F6F8}" dt="2026-01-20T19:39:47.281" v="404" actId="27636"/>
        <pc:sldMkLst>
          <pc:docMk/>
          <pc:sldMk cId="3321737263" sldId="275"/>
        </pc:sldMkLst>
        <pc:spChg chg="mod">
          <ac:chgData name="Noa Rešetar" userId="3a80b37480c980f6" providerId="LiveId" clId="{F988F6B9-8ECB-4F81-84EF-333CD554F6F8}" dt="2026-01-20T19:39:47.281" v="404" actId="27636"/>
          <ac:spMkLst>
            <pc:docMk/>
            <pc:sldMk cId="3321737263" sldId="275"/>
            <ac:spMk id="3" creationId="{93003D6B-82AC-E000-ED08-E246EC190B58}"/>
          </ac:spMkLst>
        </pc:spChg>
      </pc:sldChg>
      <pc:sldChg chg="modSp mod">
        <pc:chgData name="Noa Rešetar" userId="3a80b37480c980f6" providerId="LiveId" clId="{F988F6B9-8ECB-4F81-84EF-333CD554F6F8}" dt="2026-01-20T21:17:55.457" v="1161" actId="20577"/>
        <pc:sldMkLst>
          <pc:docMk/>
          <pc:sldMk cId="1084650130" sldId="276"/>
        </pc:sldMkLst>
        <pc:spChg chg="mod">
          <ac:chgData name="Noa Rešetar" userId="3a80b37480c980f6" providerId="LiveId" clId="{F988F6B9-8ECB-4F81-84EF-333CD554F6F8}" dt="2026-01-20T21:17:55.457" v="1161" actId="20577"/>
          <ac:spMkLst>
            <pc:docMk/>
            <pc:sldMk cId="1084650130" sldId="276"/>
            <ac:spMk id="3" creationId="{FF179FE2-9895-717E-EE7F-BE08A16A3004}"/>
          </ac:spMkLst>
        </pc:spChg>
      </pc:sldChg>
      <pc:sldChg chg="modSp mod">
        <pc:chgData name="Noa Rešetar" userId="3a80b37480c980f6" providerId="LiveId" clId="{F988F6B9-8ECB-4F81-84EF-333CD554F6F8}" dt="2026-01-20T21:19:43.409" v="1167" actId="1076"/>
        <pc:sldMkLst>
          <pc:docMk/>
          <pc:sldMk cId="3346367072" sldId="277"/>
        </pc:sldMkLst>
        <pc:picChg chg="mod">
          <ac:chgData name="Noa Rešetar" userId="3a80b37480c980f6" providerId="LiveId" clId="{F988F6B9-8ECB-4F81-84EF-333CD554F6F8}" dt="2026-01-20T21:19:43.409" v="1167" actId="1076"/>
          <ac:picMkLst>
            <pc:docMk/>
            <pc:sldMk cId="3346367072" sldId="277"/>
            <ac:picMk id="2050" creationId="{8B1994F4-39B9-8D7A-BB6D-A680F580C86C}"/>
          </ac:picMkLst>
        </pc:picChg>
      </pc:sldChg>
      <pc:sldChg chg="addSp delSp modSp new mod">
        <pc:chgData name="Noa Rešetar" userId="3a80b37480c980f6" providerId="LiveId" clId="{F988F6B9-8ECB-4F81-84EF-333CD554F6F8}" dt="2026-01-20T21:09:07.335" v="1025" actId="13822"/>
        <pc:sldMkLst>
          <pc:docMk/>
          <pc:sldMk cId="2614223084" sldId="278"/>
        </pc:sldMkLst>
        <pc:spChg chg="del mod">
          <ac:chgData name="Noa Rešetar" userId="3a80b37480c980f6" providerId="LiveId" clId="{F988F6B9-8ECB-4F81-84EF-333CD554F6F8}" dt="2026-01-20T21:04:37.324" v="1006" actId="478"/>
          <ac:spMkLst>
            <pc:docMk/>
            <pc:sldMk cId="2614223084" sldId="278"/>
            <ac:spMk id="2" creationId="{5B0A11EA-7ED7-84A6-C837-B63B620D1C99}"/>
          </ac:spMkLst>
        </pc:spChg>
        <pc:spChg chg="mod">
          <ac:chgData name="Noa Rešetar" userId="3a80b37480c980f6" providerId="LiveId" clId="{F988F6B9-8ECB-4F81-84EF-333CD554F6F8}" dt="2026-01-20T21:08:54.477" v="1024" actId="1076"/>
          <ac:spMkLst>
            <pc:docMk/>
            <pc:sldMk cId="2614223084" sldId="278"/>
            <ac:spMk id="3" creationId="{E4AC9C6E-412F-79F0-CF2C-8DF75FB3F73C}"/>
          </ac:spMkLst>
        </pc:spChg>
        <pc:picChg chg="add mod">
          <ac:chgData name="Noa Rešetar" userId="3a80b37480c980f6" providerId="LiveId" clId="{F988F6B9-8ECB-4F81-84EF-333CD554F6F8}" dt="2026-01-20T21:09:07.335" v="1025" actId="13822"/>
          <ac:picMkLst>
            <pc:docMk/>
            <pc:sldMk cId="2614223084" sldId="278"/>
            <ac:picMk id="6" creationId="{87092F36-28B9-FD69-321B-5F326C42249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20.1.2026.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213390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>
                <a:solidFill>
                  <a:schemeClr val="accent1"/>
                </a:solidFill>
              </a:rPr>
              <a:t>Room-RENTLY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03</a:t>
            </a:r>
            <a:r>
              <a:rPr lang="hr-HR" sz="1400" noProof="0" dirty="0"/>
              <a:t>.</a:t>
            </a:r>
            <a:r>
              <a:rPr lang="hr-HR" sz="1400" dirty="0"/>
              <a:t>2</a:t>
            </a:r>
            <a:r>
              <a:rPr lang="hr-HR" sz="1400" noProof="0" dirty="0"/>
              <a:t> </a:t>
            </a:r>
            <a:r>
              <a:rPr lang="hr-HR" sz="1400" noProof="0" dirty="0" err="1"/>
              <a:t>OpenReservations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sz="3200" b="1" noProof="0" dirty="0"/>
              <a:t>Imena članova i odgovornosti:</a:t>
            </a:r>
          </a:p>
          <a:p>
            <a:r>
              <a:rPr lang="hr-HR" dirty="0"/>
              <a:t>Josip Mrakovčić - voditelj projekta, </a:t>
            </a:r>
            <a:r>
              <a:rPr lang="hr-HR" dirty="0" err="1"/>
              <a:t>fullstack</a:t>
            </a:r>
            <a:r>
              <a:rPr lang="hr-HR" dirty="0"/>
              <a:t> razvoj</a:t>
            </a:r>
          </a:p>
          <a:p>
            <a:r>
              <a:rPr lang="hr-HR" dirty="0"/>
              <a:t>Jakov </a:t>
            </a:r>
            <a:r>
              <a:rPr lang="hr-HR" dirty="0" err="1"/>
              <a:t>Zekić</a:t>
            </a:r>
            <a:r>
              <a:rPr lang="hr-HR" dirty="0"/>
              <a:t> - </a:t>
            </a:r>
            <a:r>
              <a:rPr lang="hr-HR" dirty="0" err="1"/>
              <a:t>frontend</a:t>
            </a:r>
            <a:r>
              <a:rPr lang="hr-HR" dirty="0"/>
              <a:t> razvoj</a:t>
            </a:r>
          </a:p>
          <a:p>
            <a:r>
              <a:rPr lang="hr-HR" dirty="0"/>
              <a:t>Karlo Živković - </a:t>
            </a:r>
            <a:r>
              <a:rPr lang="hr-HR" dirty="0" err="1"/>
              <a:t>frontend</a:t>
            </a:r>
            <a:r>
              <a:rPr lang="hr-HR" dirty="0"/>
              <a:t> razvoj</a:t>
            </a:r>
          </a:p>
          <a:p>
            <a:r>
              <a:rPr lang="hr-HR" dirty="0"/>
              <a:t>Mateo </a:t>
            </a:r>
            <a:r>
              <a:rPr lang="hr-HR" dirty="0" err="1"/>
              <a:t>Cerčić</a:t>
            </a:r>
            <a:r>
              <a:rPr lang="hr-HR" dirty="0"/>
              <a:t> - </a:t>
            </a:r>
            <a:r>
              <a:rPr lang="hr-HR" dirty="0" err="1"/>
              <a:t>backend</a:t>
            </a:r>
            <a:r>
              <a:rPr lang="hr-HR" dirty="0"/>
              <a:t> razvoj</a:t>
            </a:r>
          </a:p>
          <a:p>
            <a:r>
              <a:rPr lang="hr-HR" dirty="0"/>
              <a:t>Nino Strčić - </a:t>
            </a:r>
            <a:r>
              <a:rPr lang="hr-HR" dirty="0" err="1"/>
              <a:t>backend</a:t>
            </a:r>
            <a:r>
              <a:rPr lang="hr-HR" dirty="0"/>
              <a:t> razvoj</a:t>
            </a:r>
          </a:p>
          <a:p>
            <a:r>
              <a:rPr lang="hr-HR" dirty="0"/>
              <a:t>Noa Rešetar - integracija i baza podataka</a:t>
            </a:r>
          </a:p>
          <a:p>
            <a:endParaRPr lang="hr-HR" b="1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Što aplikacija rješava?</a:t>
            </a:r>
          </a:p>
          <a:p>
            <a:pPr marL="0" lvl="0" indent="0">
              <a:buNone/>
            </a:pPr>
            <a:r>
              <a:rPr lang="hr-HR" sz="1800" b="1" dirty="0"/>
              <a:t>Room-</a:t>
            </a:r>
            <a:r>
              <a:rPr lang="hr-HR" sz="1800" b="1" dirty="0" err="1"/>
              <a:t>Rently</a:t>
            </a:r>
            <a:r>
              <a:rPr lang="hr-HR" sz="1800" dirty="0"/>
              <a:t> rješava problem neorganiziranog i nepouzdanog upravljanja smještajem i rezervacijama omogućujući gostima jednostavnu online rezervaciju, a vlasnicima i administratorima centralizirano upravljanje smještajnim jedinicama, rezervacijama i detaljan pregled statistike.</a:t>
            </a:r>
            <a:endParaRPr lang="hr-HR" altLang="sr-Latn-RS" sz="1800" dirty="0"/>
          </a:p>
          <a:p>
            <a:pPr lvl="0"/>
            <a:r>
              <a:rPr lang="hr-HR" altLang="sr-Latn-RS" dirty="0"/>
              <a:t>Cilj: </a:t>
            </a:r>
            <a:r>
              <a:rPr lang="hr-HR" altLang="sr-Latn-RS" b="1" dirty="0"/>
              <a:t>Glavna svrha i funkcionalnosti aplikacije.</a:t>
            </a:r>
          </a:p>
          <a:p>
            <a:pPr marL="0" lvl="0" indent="0">
              <a:buNone/>
            </a:pPr>
            <a:r>
              <a:rPr lang="hr-HR" sz="1800" dirty="0"/>
              <a:t>Cilj aplikacije je </a:t>
            </a:r>
            <a:r>
              <a:rPr lang="hr-HR" sz="1800" b="1" dirty="0"/>
              <a:t>modernizirati</a:t>
            </a:r>
            <a:r>
              <a:rPr lang="hr-HR" sz="1800" dirty="0"/>
              <a:t> proces upravljanja hotelima i privatnim smještajem pomoću fleksibilne pretrage, pouzdanog sustava rezervacija bez preklapanja termina, automatizirane obavijesti o rezervaciji, analitičke uvide za vlasnike i administratore.</a:t>
            </a:r>
            <a:endParaRPr lang="hr-HR" altLang="sr-Latn-RS" sz="1800" dirty="0"/>
          </a:p>
          <a:p>
            <a:pPr lvl="0"/>
            <a:r>
              <a:rPr lang="hr-HR" altLang="sr-Latn-RS" dirty="0"/>
              <a:t>Postoji li slično rješenje? </a:t>
            </a:r>
            <a:r>
              <a:rPr lang="hr-HR" altLang="sr-Latn-RS" b="1" dirty="0"/>
              <a:t>Što je Vaša prednost?</a:t>
            </a:r>
          </a:p>
          <a:p>
            <a:pPr marL="0" lvl="0" indent="0">
              <a:buNone/>
            </a:pPr>
            <a:r>
              <a:rPr lang="hr-HR" sz="1800" dirty="0"/>
              <a:t>Slične platforme kao </a:t>
            </a:r>
            <a:r>
              <a:rPr lang="hr-HR" sz="1800" b="1" dirty="0"/>
              <a:t>Booking.com </a:t>
            </a:r>
            <a:r>
              <a:rPr lang="hr-HR" sz="1800" dirty="0"/>
              <a:t>već postoje, no </a:t>
            </a:r>
            <a:r>
              <a:rPr lang="hr-HR" sz="1800" b="1" dirty="0"/>
              <a:t>Room-</a:t>
            </a:r>
            <a:r>
              <a:rPr lang="hr-HR" sz="1800" b="1" dirty="0" err="1"/>
              <a:t>Rently</a:t>
            </a:r>
            <a:r>
              <a:rPr lang="hr-HR" sz="1800" dirty="0"/>
              <a:t> se izdvaja kao interni i prilagodljiv sustav za upravljanje smještajem, s naglaskom na upravljanje ulogama, automatizirano generiranje PDF potvrde i izvještaja, statističke i analitičke alate za vlasnike, potpunu kontrolu nad podacima i poslovnim procesima.</a:t>
            </a:r>
            <a:endParaRPr lang="hr-HR" altLang="sr-Latn-R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702"/>
            <a:ext cx="9000000" cy="6093947"/>
          </a:xfrm>
        </p:spPr>
        <p:txBody>
          <a:bodyPr>
            <a:normAutofit fontScale="92500"/>
          </a:bodyPr>
          <a:lstStyle/>
          <a:p>
            <a:r>
              <a:rPr lang="hr-HR" b="1" dirty="0"/>
              <a:t>Glavni funkcionalni zahtjevi: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Registracija i prijava korisnika</a:t>
            </a:r>
            <a:br>
              <a:rPr lang="hr-HR" sz="1600" b="1" dirty="0"/>
            </a:br>
            <a:r>
              <a:rPr lang="hr-HR" sz="1600" dirty="0"/>
              <a:t>Omogućuje siguran pristup platformi putem Google OAuth2 (Google </a:t>
            </a:r>
            <a:r>
              <a:rPr lang="hr-HR" sz="1600" dirty="0" err="1"/>
              <a:t>Sign</a:t>
            </a:r>
            <a:r>
              <a:rPr lang="hr-HR" sz="1600" dirty="0"/>
              <a:t>-In)	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Uloge korisnika i kontrola pristupa</a:t>
            </a:r>
            <a:br>
              <a:rPr lang="hr-HR" sz="1600" b="1" dirty="0"/>
            </a:br>
            <a:r>
              <a:rPr lang="hr-HR" sz="1600" dirty="0"/>
              <a:t>Sustav razlikuje tri uloge: Gost, Voditelj hotela i Administrator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Upravljanje smještajem (CRUD)</a:t>
            </a:r>
            <a:br>
              <a:rPr lang="hr-HR" sz="1600" b="1" dirty="0"/>
            </a:br>
            <a:r>
              <a:rPr lang="hr-HR" sz="1600" dirty="0"/>
              <a:t>Administratori hotela mogu dodavati, uređivati, dohvaćati i brisati smještajne jedinice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Validacija i filtriranje podataka</a:t>
            </a:r>
            <a:br>
              <a:rPr lang="hr-HR" sz="1600" b="1" dirty="0"/>
            </a:br>
            <a:r>
              <a:rPr lang="hr-HR" sz="1600" dirty="0"/>
              <a:t>Sustav provjerava ispravnost podataka i omogućuje filtriranje smještaja prema cijeni, tipu, dostupnosti…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Rezervacije smještaja</a:t>
            </a:r>
            <a:br>
              <a:rPr lang="hr-HR" sz="1600" b="1" dirty="0"/>
            </a:br>
            <a:r>
              <a:rPr lang="hr-HR" sz="1600" dirty="0"/>
              <a:t>Gost može stvarati, pregledavati, mijenjati i otkazivati rezervacije, a sustav sprječava preklapanje termina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Potvrde i obavijesti</a:t>
            </a:r>
            <a:br>
              <a:rPr lang="hr-HR" sz="1600" b="1" dirty="0"/>
            </a:br>
            <a:r>
              <a:rPr lang="hr-HR" sz="1600" dirty="0"/>
              <a:t>Generiranje potvrda rezervacija u PDF formatu i automatsko slanje e-mail obavijesti korisnicima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Statistika i izvještaji</a:t>
            </a:r>
            <a:br>
              <a:rPr lang="hr-HR" sz="1600" b="1" dirty="0"/>
            </a:br>
            <a:r>
              <a:rPr lang="hr-HR" sz="1600" dirty="0"/>
              <a:t>Voditelji hotela mogu pregledavati i izvoziti statistiku o zauzeću, gostima i popularnosti usluga (PDF, XLSX, XML)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1600" b="1" dirty="0"/>
              <a:t>Interaktivna karta i dinamična naslovnica</a:t>
            </a:r>
            <a:br>
              <a:rPr lang="hr-HR" sz="1600" b="1" dirty="0"/>
            </a:br>
            <a:r>
              <a:rPr lang="hr-HR" sz="1600" dirty="0"/>
              <a:t>Prikaz smještaja na Google </a:t>
            </a:r>
            <a:r>
              <a:rPr lang="hr-HR" sz="1600" dirty="0" err="1"/>
              <a:t>Maps</a:t>
            </a:r>
            <a:r>
              <a:rPr lang="hr-HR" sz="1600" dirty="0"/>
              <a:t> i prikaz ažuriranih smještaja na naslovnici s tražilicom i istaknutim jedinicama</a:t>
            </a:r>
            <a:endParaRPr lang="hr-HR" sz="1600" b="1" dirty="0"/>
          </a:p>
          <a:p>
            <a:pPr marL="220200" lvl="1" indent="0">
              <a:buNone/>
            </a:pPr>
            <a:endParaRPr lang="hr-HR" sz="1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F179FE2-9895-717E-EE7F-BE08A16A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" y="884318"/>
            <a:ext cx="9000000" cy="5400000"/>
          </a:xfrm>
        </p:spPr>
        <p:txBody>
          <a:bodyPr>
            <a:normAutofit/>
          </a:bodyPr>
          <a:lstStyle/>
          <a:p>
            <a:r>
              <a:rPr lang="hr-HR" b="1" dirty="0"/>
              <a:t>Glavni nefunkcionalni zahtjevi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 b="1" dirty="0"/>
              <a:t>Performanse i skalabilnost</a:t>
            </a:r>
            <a:endParaRPr lang="hr-HR" sz="1600" dirty="0"/>
          </a:p>
          <a:p>
            <a:pPr lvl="1"/>
            <a:r>
              <a:rPr lang="pt-BR" sz="1400" dirty="0"/>
              <a:t>Učitavanje stranic</a:t>
            </a:r>
            <a:r>
              <a:rPr lang="hr-HR" sz="1400" dirty="0"/>
              <a:t>e</a:t>
            </a:r>
            <a:r>
              <a:rPr lang="pt-BR" sz="1400" dirty="0"/>
              <a:t> do 10s, pretraga smještaja u par sekundi.</a:t>
            </a:r>
            <a:r>
              <a:rPr lang="hr-HR" sz="1400" dirty="0"/>
              <a:t> Sustav mora podržavati više istovremenih korisnika bez usporavanja</a:t>
            </a:r>
          </a:p>
          <a:p>
            <a:pPr lvl="1"/>
            <a:r>
              <a:rPr lang="pl-PL" sz="1400" dirty="0"/>
              <a:t>Modularna arhitektura i baza podataka spremna za povećanje količine podataka i novih korisnika</a:t>
            </a:r>
            <a:endParaRPr lang="hr-HR" sz="1400" dirty="0"/>
          </a:p>
          <a:p>
            <a:pPr marL="342900" indent="-342900">
              <a:buFont typeface="+mj-lt"/>
              <a:buAutoNum type="arabicPeriod"/>
            </a:pPr>
            <a:r>
              <a:rPr lang="hr-HR" sz="1600" b="1" dirty="0"/>
              <a:t>Sigurnost i pouzdanost</a:t>
            </a:r>
            <a:endParaRPr lang="hr-HR" sz="1600" dirty="0"/>
          </a:p>
          <a:p>
            <a:pPr lvl="1"/>
            <a:r>
              <a:rPr lang="hr-HR" sz="1400" dirty="0"/>
              <a:t>Korištenje HTTPS-a i OAuth2-a za prijavu</a:t>
            </a:r>
          </a:p>
          <a:p>
            <a:pPr lvl="1"/>
            <a:r>
              <a:rPr lang="hr-HR" sz="1400" dirty="0"/>
              <a:t>Šifriranje podataka o korisnicima i rezervacijama; stroga kontrola pristupa administraciji</a:t>
            </a:r>
          </a:p>
          <a:p>
            <a:pPr lvl="1"/>
            <a:r>
              <a:rPr lang="hr-HR" sz="1400" dirty="0"/>
              <a:t>Visoka razina operativnosti uz redovito arhiviranje podataka i brz oporavak sustava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 b="1" dirty="0"/>
              <a:t>Upotrebljivost i kompatibilnost</a:t>
            </a:r>
            <a:endParaRPr lang="hr-HR" sz="1600" dirty="0"/>
          </a:p>
          <a:p>
            <a:pPr lvl="1"/>
            <a:r>
              <a:rPr lang="hr-HR" sz="1400" dirty="0" err="1"/>
              <a:t>Responzivno</a:t>
            </a:r>
            <a:r>
              <a:rPr lang="hr-HR" sz="1400" dirty="0"/>
              <a:t> sučelje prilagođeno svim uređajima (Mobile/Desktop)</a:t>
            </a:r>
          </a:p>
          <a:p>
            <a:pPr lvl="1"/>
            <a:r>
              <a:rPr lang="hr-HR" sz="1400" dirty="0"/>
              <a:t>Potpuna podrška za Chrome, Firefox, </a:t>
            </a:r>
            <a:r>
              <a:rPr lang="hr-HR" sz="1400" dirty="0" err="1"/>
              <a:t>Edge</a:t>
            </a:r>
            <a:r>
              <a:rPr lang="hr-HR" sz="1400" dirty="0"/>
              <a:t> i Opera GX</a:t>
            </a:r>
          </a:p>
          <a:p>
            <a:pPr lvl="1"/>
            <a:r>
              <a:rPr lang="hr-HR" sz="1400" dirty="0"/>
              <a:t>Prikaz lokacije putem Google </a:t>
            </a:r>
            <a:r>
              <a:rPr lang="hr-HR" sz="1400" dirty="0" err="1"/>
              <a:t>Maps</a:t>
            </a:r>
            <a:r>
              <a:rPr lang="hr-HR" sz="1400" dirty="0"/>
              <a:t>; izvoz podataka u PDF, XML i XLSX formatima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 b="1" dirty="0"/>
              <a:t>Održavanje i kvaliteta koda</a:t>
            </a:r>
            <a:endParaRPr lang="hr-HR" sz="1600" dirty="0"/>
          </a:p>
          <a:p>
            <a:pPr lvl="1"/>
            <a:r>
              <a:rPr lang="hr-HR" sz="1400" dirty="0"/>
              <a:t>Čist kôd, dokumentiranost i modularnost</a:t>
            </a:r>
          </a:p>
          <a:p>
            <a:pPr lvl="1"/>
            <a:r>
              <a:rPr lang="hr-HR" sz="1400" dirty="0"/>
              <a:t>Redovito ažurirana tehnička dokumentacija za lakše buduće nadogradnje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BAE5EE16-A7B7-82A1-C99A-3394BBF8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8465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" y="982650"/>
            <a:ext cx="9000000" cy="940095"/>
          </a:xfrm>
        </p:spPr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1028" name="Picture 4" descr="alt">
            <a:extLst>
              <a:ext uri="{FF2B5EF4-FFF2-40B4-BE49-F238E27FC236}">
                <a16:creationId xmlns:a16="http://schemas.microsoft.com/office/drawing/2014/main" id="{47878EA3-90A0-5677-EB24-7EEB813E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129" y="1922745"/>
            <a:ext cx="6453742" cy="48228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414223D-AF74-8AE1-4390-8CB6C91D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/>
          </a:p>
        </p:txBody>
      </p:sp>
      <p:pic>
        <p:nvPicPr>
          <p:cNvPr id="2050" name="Picture 2" descr="Sekvencijski dijagram za registraciju i prijavu korisnika">
            <a:extLst>
              <a:ext uri="{FF2B5EF4-FFF2-40B4-BE49-F238E27FC236}">
                <a16:creationId xmlns:a16="http://schemas.microsoft.com/office/drawing/2014/main" id="{8B1994F4-39B9-8D7A-BB6D-A680F580C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20" y="59649"/>
            <a:ext cx="7381373" cy="67387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4636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529038"/>
          </a:xfrm>
        </p:spPr>
        <p:txBody>
          <a:bodyPr>
            <a:normAutofit lnSpcReduction="10000"/>
          </a:bodyPr>
          <a:lstStyle/>
          <a:p>
            <a:r>
              <a:rPr lang="hr-HR" sz="1600" b="1" dirty="0"/>
              <a:t>Klijent-poslužitelj arhitektura:</a:t>
            </a:r>
            <a:endParaRPr lang="hr-HR" sz="1600" dirty="0"/>
          </a:p>
          <a:p>
            <a:pPr lvl="1"/>
            <a:r>
              <a:rPr lang="hr-HR" sz="1400" dirty="0"/>
              <a:t>Odvojeni </a:t>
            </a:r>
            <a:r>
              <a:rPr lang="hr-HR" sz="1400" dirty="0" err="1"/>
              <a:t>frontend</a:t>
            </a:r>
            <a:r>
              <a:rPr lang="hr-HR" sz="1400" dirty="0"/>
              <a:t> (</a:t>
            </a:r>
            <a:r>
              <a:rPr lang="hr-HR" sz="1400" dirty="0" err="1"/>
              <a:t>React</a:t>
            </a:r>
            <a:r>
              <a:rPr lang="hr-HR" sz="1400" dirty="0"/>
              <a:t>) i </a:t>
            </a:r>
            <a:r>
              <a:rPr lang="hr-HR" sz="1400" dirty="0" err="1"/>
              <a:t>backend</a:t>
            </a:r>
            <a:r>
              <a:rPr lang="hr-HR" sz="1400" dirty="0"/>
              <a:t> (</a:t>
            </a:r>
            <a:r>
              <a:rPr lang="hr-HR" sz="1400" dirty="0" err="1"/>
              <a:t>Spring</a:t>
            </a:r>
            <a:r>
              <a:rPr lang="hr-HR" sz="1400" dirty="0"/>
              <a:t> </a:t>
            </a:r>
            <a:r>
              <a:rPr lang="hr-HR" sz="1400" dirty="0" err="1"/>
              <a:t>Boot</a:t>
            </a:r>
            <a:r>
              <a:rPr lang="hr-HR" sz="1400" dirty="0"/>
              <a:t>)</a:t>
            </a:r>
          </a:p>
          <a:p>
            <a:pPr lvl="1"/>
            <a:r>
              <a:rPr lang="hr-HR" sz="1400" dirty="0"/>
              <a:t>Komunikacija putem REST API-ja</a:t>
            </a:r>
          </a:p>
          <a:p>
            <a:r>
              <a:rPr lang="hr-HR" sz="1600" b="1" dirty="0"/>
              <a:t>Podsustavi:</a:t>
            </a:r>
            <a:endParaRPr lang="hr-HR" sz="1600" dirty="0"/>
          </a:p>
          <a:p>
            <a:pPr lvl="1"/>
            <a:r>
              <a:rPr lang="hr-HR" sz="1400" b="1" dirty="0" err="1"/>
              <a:t>Frontend</a:t>
            </a:r>
            <a:r>
              <a:rPr lang="hr-HR" sz="1400" b="1" dirty="0"/>
              <a:t> (</a:t>
            </a:r>
            <a:r>
              <a:rPr lang="hr-HR" sz="1400" b="1" dirty="0" err="1"/>
              <a:t>React</a:t>
            </a:r>
            <a:r>
              <a:rPr lang="hr-HR" sz="1400" b="1" dirty="0"/>
              <a:t>):</a:t>
            </a:r>
            <a:r>
              <a:rPr lang="hr-HR" sz="1400" dirty="0"/>
              <a:t> Korisničko sučelje, interakcija s aplikacijom</a:t>
            </a:r>
          </a:p>
          <a:p>
            <a:pPr lvl="1"/>
            <a:r>
              <a:rPr lang="hr-HR" sz="1400" b="1" dirty="0" err="1"/>
              <a:t>Backend</a:t>
            </a:r>
            <a:r>
              <a:rPr lang="hr-HR" sz="1400" b="1" dirty="0"/>
              <a:t> (</a:t>
            </a:r>
            <a:r>
              <a:rPr lang="hr-HR" sz="1400" b="1" dirty="0" err="1"/>
              <a:t>Spring</a:t>
            </a:r>
            <a:r>
              <a:rPr lang="hr-HR" sz="1400" b="1" dirty="0"/>
              <a:t> </a:t>
            </a:r>
            <a:r>
              <a:rPr lang="hr-HR" sz="1400" b="1" dirty="0" err="1"/>
              <a:t>Boot</a:t>
            </a:r>
            <a:r>
              <a:rPr lang="hr-HR" sz="1400" b="1" dirty="0"/>
              <a:t>):</a:t>
            </a:r>
            <a:r>
              <a:rPr lang="hr-HR" sz="1400" dirty="0"/>
              <a:t> Obrada zahtjeva, poslovna logika, sigurnost</a:t>
            </a:r>
          </a:p>
          <a:p>
            <a:pPr lvl="1"/>
            <a:r>
              <a:rPr lang="hr-HR" sz="1400" b="1" dirty="0"/>
              <a:t>Baza podataka (</a:t>
            </a:r>
            <a:r>
              <a:rPr lang="hr-HR" sz="1400" b="1" dirty="0" err="1"/>
              <a:t>PostgreSQL</a:t>
            </a:r>
            <a:r>
              <a:rPr lang="hr-HR" sz="1400" b="1" dirty="0"/>
              <a:t>):</a:t>
            </a:r>
            <a:r>
              <a:rPr lang="hr-HR" sz="1400" dirty="0"/>
              <a:t> Pohrana podataka, integritet</a:t>
            </a:r>
          </a:p>
          <a:p>
            <a:pPr lvl="1"/>
            <a:r>
              <a:rPr lang="hr-HR" sz="1400" b="1" dirty="0"/>
              <a:t>Google </a:t>
            </a:r>
            <a:r>
              <a:rPr lang="hr-HR" sz="1400" b="1" dirty="0" err="1"/>
              <a:t>Maps</a:t>
            </a:r>
            <a:r>
              <a:rPr lang="hr-HR" sz="1400" b="1" dirty="0"/>
              <a:t> API:</a:t>
            </a:r>
            <a:r>
              <a:rPr lang="hr-HR" sz="1400" dirty="0"/>
              <a:t> Prikaz lokacije hotela</a:t>
            </a:r>
          </a:p>
          <a:p>
            <a:pPr lvl="1"/>
            <a:r>
              <a:rPr lang="hr-HR" sz="1400" b="1" dirty="0" err="1"/>
              <a:t>OAuth</a:t>
            </a:r>
            <a:r>
              <a:rPr lang="hr-HR" sz="1400" b="1" dirty="0"/>
              <a:t> 2.0:</a:t>
            </a:r>
            <a:r>
              <a:rPr lang="hr-HR" sz="1400" dirty="0"/>
              <a:t> Sigurna prijava putem vanjskih servisa</a:t>
            </a:r>
          </a:p>
          <a:p>
            <a:pPr lvl="1"/>
            <a:r>
              <a:rPr lang="hr-HR" sz="1400" b="1" dirty="0"/>
              <a:t>E-mail servis (Bravo): </a:t>
            </a:r>
            <a:r>
              <a:rPr lang="hr-HR" sz="1400" dirty="0"/>
              <a:t>Slanje obavijesti i potvrda</a:t>
            </a:r>
          </a:p>
          <a:p>
            <a:pPr lvl="1"/>
            <a:r>
              <a:rPr lang="hr-HR" sz="1400" b="1" dirty="0"/>
              <a:t>PDF generator: </a:t>
            </a:r>
            <a:r>
              <a:rPr lang="hr-HR" sz="1400" dirty="0"/>
              <a:t>Potvrde rezervacija</a:t>
            </a:r>
          </a:p>
          <a:p>
            <a:r>
              <a:rPr lang="hr-HR" sz="1600" b="1" dirty="0"/>
              <a:t>Hosting platforme:</a:t>
            </a:r>
            <a:endParaRPr lang="hr-HR" sz="1600" dirty="0"/>
          </a:p>
          <a:p>
            <a:pPr lvl="1"/>
            <a:r>
              <a:rPr lang="hr-HR" sz="1400" b="1" dirty="0"/>
              <a:t>AWS:</a:t>
            </a:r>
            <a:r>
              <a:rPr lang="hr-HR" sz="1400" dirty="0"/>
              <a:t> </a:t>
            </a:r>
            <a:r>
              <a:rPr lang="hr-HR" sz="1400" dirty="0" err="1"/>
              <a:t>Backend</a:t>
            </a:r>
            <a:r>
              <a:rPr lang="hr-HR" sz="1400" dirty="0"/>
              <a:t> hosting s automatskim skaliranjem</a:t>
            </a:r>
          </a:p>
          <a:p>
            <a:pPr lvl="1"/>
            <a:r>
              <a:rPr lang="hr-HR" sz="1400" b="1" dirty="0" err="1"/>
              <a:t>Supabase</a:t>
            </a:r>
            <a:r>
              <a:rPr lang="hr-HR" sz="1400" b="1" dirty="0"/>
              <a:t>:</a:t>
            </a:r>
            <a:r>
              <a:rPr lang="hr-HR" sz="1400" dirty="0"/>
              <a:t> </a:t>
            </a:r>
            <a:r>
              <a:rPr lang="hr-HR" sz="1400" dirty="0" err="1"/>
              <a:t>PostgreSQL</a:t>
            </a:r>
            <a:r>
              <a:rPr lang="hr-HR" sz="1400" dirty="0"/>
              <a:t> baza podataka u oblaku</a:t>
            </a:r>
          </a:p>
          <a:p>
            <a:r>
              <a:rPr lang="hr-HR" sz="1600" b="1" dirty="0"/>
              <a:t>Mrežni protokol</a:t>
            </a:r>
            <a:endParaRPr lang="hr-HR" sz="1600" dirty="0"/>
          </a:p>
          <a:p>
            <a:pPr lvl="1"/>
            <a:r>
              <a:rPr lang="hr-HR" sz="1400" b="1" dirty="0"/>
              <a:t>HTTP</a:t>
            </a:r>
            <a:r>
              <a:rPr lang="hr-HR" sz="1400" dirty="0"/>
              <a:t> komunikacija između </a:t>
            </a:r>
            <a:r>
              <a:rPr lang="hr-HR" sz="1400" dirty="0" err="1"/>
              <a:t>frontend</a:t>
            </a:r>
            <a:r>
              <a:rPr lang="hr-HR" sz="1400" dirty="0"/>
              <a:t> i </a:t>
            </a:r>
            <a:r>
              <a:rPr lang="hr-HR" sz="1400" dirty="0" err="1"/>
              <a:t>backend</a:t>
            </a:r>
            <a:r>
              <a:rPr lang="hr-HR" sz="1400" dirty="0"/>
              <a:t> komponenti</a:t>
            </a:r>
          </a:p>
          <a:p>
            <a:r>
              <a:rPr lang="hr-HR" sz="1600" b="1" dirty="0"/>
              <a:t>Globalni upravljački tok</a:t>
            </a:r>
            <a:endParaRPr lang="hr-HR" sz="1600" dirty="0"/>
          </a:p>
          <a:p>
            <a:pPr lvl="1"/>
            <a:r>
              <a:rPr lang="hr-HR" sz="1400" dirty="0"/>
              <a:t>Korisnik -&gt; </a:t>
            </a:r>
            <a:r>
              <a:rPr lang="hr-HR" sz="1400" dirty="0" err="1"/>
              <a:t>Frontend</a:t>
            </a:r>
            <a:r>
              <a:rPr lang="hr-HR" sz="1400" dirty="0"/>
              <a:t> (zahtjev) -&gt; </a:t>
            </a:r>
            <a:r>
              <a:rPr lang="hr-HR" sz="1400" dirty="0" err="1"/>
              <a:t>Backend</a:t>
            </a:r>
            <a:r>
              <a:rPr lang="hr-HR" sz="1400" dirty="0"/>
              <a:t> (obrada) -&gt; Baza podataka -&gt; </a:t>
            </a:r>
            <a:r>
              <a:rPr lang="hr-HR" sz="1400" dirty="0" err="1"/>
              <a:t>Frontend</a:t>
            </a:r>
            <a:r>
              <a:rPr lang="hr-HR" sz="1400" dirty="0"/>
              <a:t> (prikaz odgovora)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b="1" dirty="0"/>
              <a:t>Organizacija ispitivanja:</a:t>
            </a:r>
            <a:endParaRPr lang="hr-HR" dirty="0"/>
          </a:p>
          <a:p>
            <a:pPr lvl="1"/>
            <a:r>
              <a:rPr lang="hr-HR" b="1" i="1" dirty="0" err="1"/>
              <a:t>Selenium</a:t>
            </a:r>
            <a:r>
              <a:rPr lang="hr-HR" i="1" dirty="0"/>
              <a:t> </a:t>
            </a:r>
            <a:r>
              <a:rPr lang="hr-HR" dirty="0"/>
              <a:t>za testiranje web sučelja</a:t>
            </a:r>
          </a:p>
          <a:p>
            <a:pPr lvl="1"/>
            <a:r>
              <a:rPr lang="hr-HR" b="1" i="1" dirty="0" err="1"/>
              <a:t>JUnit</a:t>
            </a:r>
            <a:r>
              <a:rPr lang="hr-HR" dirty="0"/>
              <a:t> za automatizirano testiranje Java koda</a:t>
            </a:r>
          </a:p>
          <a:p>
            <a:pPr lvl="1"/>
            <a:r>
              <a:rPr lang="hr-HR" dirty="0"/>
              <a:t>Testiranje komponenti putem lokalnog okruženja</a:t>
            </a:r>
          </a:p>
          <a:p>
            <a:r>
              <a:rPr lang="hr-HR" b="1" dirty="0"/>
              <a:t>Fokus ispitivanja:</a:t>
            </a:r>
            <a:endParaRPr lang="hr-HR" dirty="0"/>
          </a:p>
          <a:p>
            <a:pPr lvl="1"/>
            <a:r>
              <a:rPr lang="hr-HR" b="1" dirty="0"/>
              <a:t>Ispitivanje komponenti:</a:t>
            </a:r>
            <a:endParaRPr lang="hr-HR" dirty="0"/>
          </a:p>
          <a:p>
            <a:pPr lvl="3"/>
            <a:r>
              <a:rPr lang="hr-HR" dirty="0"/>
              <a:t>Dodavanje korisnika</a:t>
            </a:r>
          </a:p>
          <a:p>
            <a:pPr lvl="3"/>
            <a:r>
              <a:rPr lang="hr-HR" dirty="0"/>
              <a:t>Dohvat trenutnog korisnika</a:t>
            </a:r>
          </a:p>
          <a:p>
            <a:pPr lvl="3"/>
            <a:r>
              <a:rPr lang="hr-HR" dirty="0"/>
              <a:t>Dodavanje smještajne jedinice</a:t>
            </a:r>
          </a:p>
          <a:p>
            <a:pPr lvl="3"/>
            <a:r>
              <a:rPr lang="hr-HR" dirty="0"/>
              <a:t>Ažuriranje smještajne jedinice</a:t>
            </a:r>
          </a:p>
          <a:p>
            <a:pPr lvl="3"/>
            <a:r>
              <a:rPr lang="hr-HR" dirty="0"/>
              <a:t>Dohvat vlastitih rezervacija</a:t>
            </a:r>
          </a:p>
          <a:p>
            <a:pPr lvl="1"/>
            <a:r>
              <a:rPr lang="hr-HR" b="1" dirty="0"/>
              <a:t>Ispitivanje sustava:</a:t>
            </a:r>
            <a:endParaRPr lang="hr-HR" dirty="0"/>
          </a:p>
          <a:p>
            <a:pPr lvl="3"/>
            <a:r>
              <a:rPr lang="hr-HR" dirty="0"/>
              <a:t>Redovni slučaj - Rezervacija smještaja(Gost)</a:t>
            </a:r>
          </a:p>
          <a:p>
            <a:pPr lvl="3"/>
            <a:r>
              <a:rPr lang="hr-HR" dirty="0"/>
              <a:t>Rubni uvjet - Rezervacija smještaja zauzetog datuma(Gost)</a:t>
            </a:r>
          </a:p>
          <a:p>
            <a:pPr lvl="3"/>
            <a:r>
              <a:rPr lang="hr-HR" dirty="0"/>
              <a:t>Rubni uvjet - Izvoz statistike za period bez rezervacija(</a:t>
            </a:r>
            <a:r>
              <a:rPr lang="hr-HR" dirty="0" err="1"/>
              <a:t>Owner</a:t>
            </a:r>
            <a:r>
              <a:rPr lang="hr-HR" dirty="0"/>
              <a:t>)</a:t>
            </a:r>
          </a:p>
          <a:p>
            <a:pPr lvl="3"/>
            <a:r>
              <a:rPr lang="hr-HR" dirty="0"/>
              <a:t>Poziv nepostojeće funkcionalnosti - Pokušaj korištenja /</a:t>
            </a:r>
            <a:r>
              <a:rPr lang="hr-HR" dirty="0" err="1"/>
              <a:t>admin</a:t>
            </a:r>
            <a:r>
              <a:rPr lang="hr-HR" dirty="0"/>
              <a:t> rute(Gost)</a:t>
            </a:r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r-HR" b="1" dirty="0"/>
              <a:t>Programski jezici:</a:t>
            </a:r>
            <a:endParaRPr lang="hr-HR" dirty="0"/>
          </a:p>
          <a:p>
            <a:pPr lvl="1"/>
            <a:r>
              <a:rPr lang="hr-HR" b="1" dirty="0"/>
              <a:t>Java 21 </a:t>
            </a:r>
            <a:r>
              <a:rPr lang="hr-HR" dirty="0"/>
              <a:t>– Čitljiv, i skalabilan za </a:t>
            </a:r>
            <a:r>
              <a:rPr lang="hr-HR" dirty="0" err="1"/>
              <a:t>backend</a:t>
            </a:r>
            <a:endParaRPr lang="hr-HR" dirty="0"/>
          </a:p>
          <a:p>
            <a:pPr lvl="1"/>
            <a:r>
              <a:rPr lang="hr-HR" b="1" dirty="0"/>
              <a:t>JavaScript </a:t>
            </a:r>
            <a:r>
              <a:rPr lang="hr-HR" dirty="0"/>
              <a:t>– Siguran i produktivan za </a:t>
            </a:r>
            <a:r>
              <a:rPr lang="hr-HR" dirty="0" err="1"/>
              <a:t>frontend</a:t>
            </a:r>
            <a:endParaRPr lang="hr-HR" dirty="0"/>
          </a:p>
          <a:p>
            <a:r>
              <a:rPr lang="hr-HR" b="1" dirty="0"/>
              <a:t>Radni okviri i biblioteke:</a:t>
            </a:r>
            <a:endParaRPr lang="hr-HR" dirty="0"/>
          </a:p>
          <a:p>
            <a:pPr lvl="1"/>
            <a:r>
              <a:rPr lang="hr-HR" b="1" dirty="0" err="1"/>
              <a:t>React</a:t>
            </a:r>
            <a:r>
              <a:rPr lang="hr-HR" b="1" dirty="0"/>
              <a:t> 19 </a:t>
            </a:r>
            <a:r>
              <a:rPr lang="hr-HR" dirty="0"/>
              <a:t>– Fleksibilan </a:t>
            </a:r>
            <a:r>
              <a:rPr lang="hr-HR" dirty="0" err="1"/>
              <a:t>frontend</a:t>
            </a:r>
            <a:r>
              <a:rPr lang="hr-HR" dirty="0"/>
              <a:t> okvir s podrškom za SSR</a:t>
            </a:r>
          </a:p>
          <a:p>
            <a:pPr lvl="1"/>
            <a:r>
              <a:rPr lang="hr-HR" b="1" dirty="0" err="1"/>
              <a:t>Spring</a:t>
            </a:r>
            <a:r>
              <a:rPr lang="hr-HR" b="1" dirty="0"/>
              <a:t> </a:t>
            </a:r>
            <a:r>
              <a:rPr lang="hr-HR" b="1" dirty="0" err="1"/>
              <a:t>Boot</a:t>
            </a:r>
            <a:r>
              <a:rPr lang="hr-HR" b="1" dirty="0"/>
              <a:t> 3.5.7 </a:t>
            </a:r>
            <a:r>
              <a:rPr lang="hr-HR" dirty="0"/>
              <a:t>– Siguran i skalabilan </a:t>
            </a:r>
            <a:r>
              <a:rPr lang="hr-HR" dirty="0" err="1"/>
              <a:t>backend</a:t>
            </a:r>
            <a:r>
              <a:rPr lang="hr-HR" dirty="0"/>
              <a:t> okvir</a:t>
            </a:r>
          </a:p>
          <a:p>
            <a:r>
              <a:rPr lang="hr-HR" b="1" dirty="0"/>
              <a:t>Baza podataka:</a:t>
            </a:r>
            <a:endParaRPr lang="hr-HR" dirty="0"/>
          </a:p>
          <a:p>
            <a:pPr lvl="1"/>
            <a:r>
              <a:rPr lang="hr-HR" b="1" dirty="0" err="1"/>
              <a:t>PostgreSQL</a:t>
            </a:r>
            <a:r>
              <a:rPr lang="hr-HR" b="1" dirty="0"/>
              <a:t> 17.6.1.038</a:t>
            </a:r>
            <a:r>
              <a:rPr lang="hr-HR" dirty="0"/>
              <a:t> – Stabilna i skalabilna relacijska baza podataka</a:t>
            </a:r>
          </a:p>
          <a:p>
            <a:r>
              <a:rPr lang="hr-HR" b="1" dirty="0"/>
              <a:t>Razvojni alati:</a:t>
            </a:r>
            <a:endParaRPr lang="hr-HR" dirty="0"/>
          </a:p>
          <a:p>
            <a:pPr lvl="1"/>
            <a:r>
              <a:rPr lang="hr-HR" b="1" dirty="0" err="1"/>
              <a:t>VSCode</a:t>
            </a:r>
            <a:r>
              <a:rPr lang="hr-HR" dirty="0"/>
              <a:t> – Glavni alat za razvoj s podrškom za više jezika</a:t>
            </a:r>
          </a:p>
          <a:p>
            <a:pPr lvl="1"/>
            <a:r>
              <a:rPr lang="hr-HR" b="1" dirty="0" err="1"/>
              <a:t>IntelliJ</a:t>
            </a:r>
            <a:r>
              <a:rPr lang="hr-HR" b="1" dirty="0"/>
              <a:t> IDEA </a:t>
            </a:r>
            <a:r>
              <a:rPr lang="hr-HR" dirty="0"/>
              <a:t>- Primarni alat za razvoj </a:t>
            </a:r>
            <a:r>
              <a:rPr lang="hr-HR" dirty="0" err="1"/>
              <a:t>bacend</a:t>
            </a:r>
            <a:r>
              <a:rPr lang="hr-HR" dirty="0"/>
              <a:t> aplikacije</a:t>
            </a:r>
          </a:p>
          <a:p>
            <a:pPr lvl="1"/>
            <a:r>
              <a:rPr lang="hr-HR" b="1" dirty="0" err="1"/>
              <a:t>Git</a:t>
            </a:r>
            <a:r>
              <a:rPr lang="hr-HR" b="1" dirty="0"/>
              <a:t> 2.x </a:t>
            </a:r>
            <a:r>
              <a:rPr lang="hr-HR" dirty="0"/>
              <a:t>– </a:t>
            </a:r>
            <a:r>
              <a:rPr lang="hr-HR" dirty="0" err="1"/>
              <a:t>Verzioniranje</a:t>
            </a:r>
            <a:r>
              <a:rPr lang="hr-HR" dirty="0"/>
              <a:t> koda i timska suradnja</a:t>
            </a:r>
          </a:p>
          <a:p>
            <a:pPr lvl="1"/>
            <a:r>
              <a:rPr lang="hr-HR" b="1" dirty="0"/>
              <a:t>Apache </a:t>
            </a:r>
            <a:r>
              <a:rPr lang="hr-HR" b="1" dirty="0" err="1"/>
              <a:t>Maven</a:t>
            </a:r>
            <a:r>
              <a:rPr lang="hr-HR" b="1" dirty="0"/>
              <a:t> 3.8+ </a:t>
            </a:r>
            <a:r>
              <a:rPr lang="hr-HR" dirty="0"/>
              <a:t>– Upravljanje ovisnostima i izgradnja </a:t>
            </a:r>
            <a:r>
              <a:rPr lang="hr-HR" dirty="0" err="1"/>
              <a:t>backend</a:t>
            </a:r>
            <a:r>
              <a:rPr lang="hr-HR" dirty="0"/>
              <a:t> aplikacije</a:t>
            </a:r>
          </a:p>
          <a:p>
            <a:r>
              <a:rPr lang="hr-HR" b="1" dirty="0"/>
              <a:t>Alati za ispitivanje:</a:t>
            </a:r>
            <a:endParaRPr lang="hr-HR" dirty="0"/>
          </a:p>
          <a:p>
            <a:pPr lvl="1"/>
            <a:r>
              <a:rPr lang="hr-HR" b="1" dirty="0" err="1"/>
              <a:t>Selenium</a:t>
            </a:r>
            <a:r>
              <a:rPr lang="hr-HR" b="1" dirty="0"/>
              <a:t> 4.16.1 </a:t>
            </a:r>
            <a:r>
              <a:rPr lang="hr-HR" dirty="0"/>
              <a:t>– Automatizirano ispitivanje web korisničkog sučelja</a:t>
            </a:r>
          </a:p>
          <a:p>
            <a:pPr lvl="1"/>
            <a:r>
              <a:rPr lang="hr-HR" b="1" dirty="0" err="1"/>
              <a:t>Junit</a:t>
            </a:r>
            <a:r>
              <a:rPr lang="hr-HR" b="1" dirty="0"/>
              <a:t> 5.10 </a:t>
            </a:r>
            <a:r>
              <a:rPr lang="hr-HR" dirty="0"/>
              <a:t>– Automatizirano testiranje Java koda</a:t>
            </a:r>
          </a:p>
          <a:p>
            <a:r>
              <a:rPr lang="hr-HR" b="1" dirty="0"/>
              <a:t>Cloud platforme za smještaj aplikacije:</a:t>
            </a:r>
            <a:endParaRPr lang="hr-HR" dirty="0"/>
          </a:p>
          <a:p>
            <a:pPr lvl="1"/>
            <a:r>
              <a:rPr lang="hr-HR" b="1" dirty="0"/>
              <a:t>Amazon Web </a:t>
            </a:r>
            <a:r>
              <a:rPr lang="hr-HR" b="1" dirty="0" err="1"/>
              <a:t>Services</a:t>
            </a:r>
            <a:r>
              <a:rPr lang="hr-HR" b="1" dirty="0"/>
              <a:t> (AWS)</a:t>
            </a:r>
            <a:r>
              <a:rPr lang="hr-HR" dirty="0"/>
              <a:t> – Hosting </a:t>
            </a:r>
            <a:r>
              <a:rPr lang="hr-HR" dirty="0" err="1"/>
              <a:t>backend</a:t>
            </a:r>
            <a:r>
              <a:rPr lang="hr-HR" dirty="0"/>
              <a:t> aplikacije uz visoku pouzdanost i skalabilnost</a:t>
            </a:r>
          </a:p>
          <a:p>
            <a:pPr lvl="1"/>
            <a:r>
              <a:rPr lang="hr-HR" b="1" dirty="0" err="1"/>
              <a:t>Supabase</a:t>
            </a:r>
            <a:r>
              <a:rPr lang="hr-HR" dirty="0"/>
              <a:t> – </a:t>
            </a:r>
            <a:r>
              <a:rPr lang="hr-HR" dirty="0" err="1"/>
              <a:t>PostgreSQL</a:t>
            </a:r>
            <a:r>
              <a:rPr lang="hr-HR" dirty="0"/>
              <a:t> baza podataka u oblaku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r-HR" sz="1700" b="1" dirty="0"/>
              <a:t>Organizacija komunikacije</a:t>
            </a:r>
            <a:endParaRPr lang="hr-HR" sz="1700" dirty="0"/>
          </a:p>
          <a:p>
            <a:pPr lvl="1"/>
            <a:r>
              <a:rPr lang="hr-HR" sz="1400" b="1" dirty="0"/>
              <a:t>Glavni kanali:</a:t>
            </a:r>
            <a:endParaRPr lang="hr-HR" sz="1400" dirty="0"/>
          </a:p>
          <a:p>
            <a:pPr lvl="2"/>
            <a:r>
              <a:rPr lang="hr-HR" sz="1200" b="1" dirty="0" err="1"/>
              <a:t>GitHub</a:t>
            </a:r>
            <a:r>
              <a:rPr lang="hr-HR" sz="1200" dirty="0"/>
              <a:t> – upravljanje zadacima i dokumentacija</a:t>
            </a:r>
          </a:p>
          <a:p>
            <a:pPr lvl="2"/>
            <a:r>
              <a:rPr lang="hr-HR" sz="1200" b="1" dirty="0" err="1"/>
              <a:t>Discord</a:t>
            </a:r>
            <a:r>
              <a:rPr lang="hr-HR" sz="1200" dirty="0"/>
              <a:t> – detaljne tehničke rasprave i svakodnevna komunikacija</a:t>
            </a:r>
          </a:p>
          <a:p>
            <a:pPr lvl="2"/>
            <a:r>
              <a:rPr lang="hr-HR" sz="1200" b="1" dirty="0" err="1"/>
              <a:t>Trello</a:t>
            </a:r>
            <a:r>
              <a:rPr lang="hr-HR" sz="1200" dirty="0"/>
              <a:t> – organizacija rada tima, osobnih zadataka i vizualno planiranje</a:t>
            </a:r>
          </a:p>
          <a:p>
            <a:pPr lvl="1"/>
            <a:r>
              <a:rPr lang="hr-HR" sz="1500" b="1" dirty="0"/>
              <a:t>Tjedni sastanci</a:t>
            </a:r>
            <a:r>
              <a:rPr lang="hr-HR" sz="1500" dirty="0"/>
              <a:t> (vikendom)</a:t>
            </a:r>
          </a:p>
          <a:p>
            <a:pPr lvl="1"/>
            <a:r>
              <a:rPr lang="hr-HR" sz="1500" dirty="0"/>
              <a:t>Pregled napretka i rasprava o mogućim poboljšanjima</a:t>
            </a:r>
          </a:p>
          <a:p>
            <a:r>
              <a:rPr lang="hr-HR" sz="1700" b="1" dirty="0" err="1"/>
              <a:t>GitHub</a:t>
            </a:r>
            <a:r>
              <a:rPr lang="hr-HR" sz="1700" b="1" dirty="0"/>
              <a:t> iskustvo</a:t>
            </a:r>
            <a:endParaRPr lang="hr-HR" sz="1700" dirty="0"/>
          </a:p>
          <a:p>
            <a:pPr lvl="1"/>
            <a:r>
              <a:rPr lang="hr-HR" sz="1500" dirty="0"/>
              <a:t>Svi članovi tima imali su prethodno iskustvo s </a:t>
            </a:r>
            <a:r>
              <a:rPr lang="hr-HR" sz="1500" dirty="0" err="1"/>
              <a:t>GitHubom</a:t>
            </a:r>
            <a:r>
              <a:rPr lang="hr-HR" sz="1500" dirty="0"/>
              <a:t>, ali ne preveliko</a:t>
            </a:r>
          </a:p>
          <a:p>
            <a:pPr lvl="1"/>
            <a:r>
              <a:rPr lang="hr-HR" sz="1500" dirty="0"/>
              <a:t>Rad kroz </a:t>
            </a:r>
            <a:r>
              <a:rPr lang="hr-HR" sz="1500" dirty="0" err="1"/>
              <a:t>pull</a:t>
            </a:r>
            <a:r>
              <a:rPr lang="hr-HR" sz="1500" dirty="0"/>
              <a:t> </a:t>
            </a:r>
            <a:r>
              <a:rPr lang="hr-HR" sz="1500" dirty="0" err="1"/>
              <a:t>requestove</a:t>
            </a:r>
            <a:r>
              <a:rPr lang="hr-HR" sz="1500" dirty="0"/>
              <a:t> i grane za svaki </a:t>
            </a:r>
            <a:r>
              <a:rPr lang="hr-HR" sz="1500" dirty="0" err="1"/>
              <a:t>feature</a:t>
            </a:r>
            <a:endParaRPr lang="hr-HR" sz="1500" dirty="0"/>
          </a:p>
          <a:p>
            <a:pPr lvl="1"/>
            <a:r>
              <a:rPr lang="hr-HR" sz="1500" dirty="0"/>
              <a:t>Josip Mrakovčić – odgovoran za </a:t>
            </a:r>
            <a:r>
              <a:rPr lang="hr-HR" sz="1500" dirty="0" err="1"/>
              <a:t>verzioniranje</a:t>
            </a:r>
            <a:r>
              <a:rPr lang="hr-HR" sz="1500" dirty="0"/>
              <a:t> i rješavanje konflikata</a:t>
            </a:r>
          </a:p>
          <a:p>
            <a:r>
              <a:rPr lang="pt-BR" sz="1700" b="1" dirty="0"/>
              <a:t>Primijenjeni model životnog ciklusa</a:t>
            </a:r>
            <a:endParaRPr lang="pt-BR" sz="1700" dirty="0"/>
          </a:p>
          <a:p>
            <a:pPr lvl="1"/>
            <a:r>
              <a:rPr lang="pt-BR" sz="1500" b="1" dirty="0"/>
              <a:t>Iterativni pristup</a:t>
            </a:r>
            <a:r>
              <a:rPr lang="pt-BR" sz="1500" dirty="0"/>
              <a:t> s elementima vodopadnog modela</a:t>
            </a:r>
          </a:p>
          <a:p>
            <a:pPr lvl="1"/>
            <a:r>
              <a:rPr lang="pt-BR" sz="1500" dirty="0"/>
              <a:t>Početna faza – definiranje specifikacija i dizajna</a:t>
            </a:r>
          </a:p>
          <a:p>
            <a:pPr lvl="1"/>
            <a:r>
              <a:rPr lang="pt-BR" sz="1500" dirty="0"/>
              <a:t>Iterativna implementacija s redovitim revizijama</a:t>
            </a:r>
            <a:endParaRPr lang="hr-HR" sz="1500" dirty="0"/>
          </a:p>
          <a:p>
            <a:r>
              <a:rPr lang="hr-HR" sz="1700" b="1" dirty="0"/>
              <a:t>Vremenski okvir razvoja</a:t>
            </a:r>
            <a:endParaRPr lang="hr-HR" sz="1700" dirty="0"/>
          </a:p>
          <a:p>
            <a:pPr lvl="1"/>
            <a:r>
              <a:rPr lang="hr-HR" sz="1500" dirty="0"/>
              <a:t>Razvoj podijeljen u faze: specifikacija, implementacija, testiranje, dokumentacija</a:t>
            </a:r>
          </a:p>
          <a:p>
            <a:pPr lvl="1"/>
            <a:r>
              <a:rPr lang="hr-HR" sz="1500" dirty="0"/>
              <a:t>Redoviti pregledi napretka i prilagodbe plana</a:t>
            </a:r>
          </a:p>
          <a:p>
            <a:pPr lvl="1"/>
            <a:r>
              <a:rPr lang="hr-HR" sz="1500" dirty="0"/>
              <a:t>Grafički prikaz korišten za praćenje napretka</a:t>
            </a:r>
            <a:endParaRPr lang="hr-HR" sz="15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4AC9C6E-412F-79F0-CF2C-8DF75FB3F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6926"/>
            <a:ext cx="2971826" cy="5526493"/>
          </a:xfrm>
        </p:spPr>
        <p:txBody>
          <a:bodyPr/>
          <a:lstStyle/>
          <a:p>
            <a:r>
              <a:rPr lang="hr-HR" dirty="0"/>
              <a:t>Tablica raščlambe zadataka članova s procijenjenim naporom u satima 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0396466-486E-F4A0-048F-3C9FA1B1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/>
          </a:p>
        </p:txBody>
      </p:sp>
      <p:pic>
        <p:nvPicPr>
          <p:cNvPr id="6" name="Slika 5" descr="Slika na kojoj se prikazuje tekst, snimka zaslona, izbornik&#10;&#10;Sadržaj generiran uz AI možda nije točan.">
            <a:extLst>
              <a:ext uri="{FF2B5EF4-FFF2-40B4-BE49-F238E27FC236}">
                <a16:creationId xmlns:a16="http://schemas.microsoft.com/office/drawing/2014/main" id="{87092F36-28B9-FD69-321B-5F326C42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602" y="156575"/>
            <a:ext cx="5444832" cy="65448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14223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1600" b="1" dirty="0"/>
              <a:t>Što je bilo dobro:</a:t>
            </a:r>
            <a:endParaRPr lang="hr-HR" sz="1600" dirty="0"/>
          </a:p>
          <a:p>
            <a:pPr lvl="2"/>
            <a:r>
              <a:rPr lang="hr-HR" dirty="0"/>
              <a:t>Uspješna implementacija većine ključnih funkcionalnosti.</a:t>
            </a:r>
          </a:p>
          <a:p>
            <a:pPr lvl="2"/>
            <a:r>
              <a:rPr lang="hr-HR" dirty="0"/>
              <a:t>Naučili smo nove tehnologije (</a:t>
            </a:r>
            <a:r>
              <a:rPr lang="hr-HR" dirty="0" err="1"/>
              <a:t>React</a:t>
            </a:r>
            <a:r>
              <a:rPr lang="hr-HR" dirty="0"/>
              <a:t>, </a:t>
            </a:r>
            <a:r>
              <a:rPr lang="hr-HR" dirty="0" err="1"/>
              <a:t>Spring</a:t>
            </a:r>
            <a:r>
              <a:rPr lang="hr-HR" dirty="0"/>
              <a:t> </a:t>
            </a:r>
            <a:r>
              <a:rPr lang="hr-HR" dirty="0" err="1"/>
              <a:t>Boot</a:t>
            </a:r>
            <a:r>
              <a:rPr lang="hr-HR" dirty="0"/>
              <a:t>, </a:t>
            </a:r>
            <a:r>
              <a:rPr lang="hr-HR" dirty="0" err="1"/>
              <a:t>PostgreSQL</a:t>
            </a:r>
            <a:r>
              <a:rPr lang="hr-HR" dirty="0"/>
              <a:t>).</a:t>
            </a:r>
          </a:p>
          <a:p>
            <a:pPr lvl="2"/>
            <a:r>
              <a:rPr lang="hr-HR" dirty="0"/>
              <a:t>Tim je ostvario dobru suradnju kroz redovite sastanke i komunikaciju putem </a:t>
            </a:r>
            <a:r>
              <a:rPr lang="hr-HR" dirty="0" err="1"/>
              <a:t>Discorda</a:t>
            </a:r>
            <a:r>
              <a:rPr lang="hr-HR" dirty="0"/>
              <a:t>, </a:t>
            </a:r>
            <a:r>
              <a:rPr lang="hr-HR" dirty="0" err="1"/>
              <a:t>GitHub</a:t>
            </a:r>
            <a:r>
              <a:rPr lang="hr-HR" dirty="0"/>
              <a:t>-a i </a:t>
            </a:r>
            <a:r>
              <a:rPr lang="hr-HR" dirty="0" err="1"/>
              <a:t>Trello</a:t>
            </a:r>
            <a:r>
              <a:rPr lang="hr-HR" dirty="0"/>
              <a:t>-a.</a:t>
            </a:r>
          </a:p>
          <a:p>
            <a:pPr lvl="2"/>
            <a:r>
              <a:rPr lang="hr-HR" dirty="0"/>
              <a:t>Stekli smo iskustvo u razvoju web aplikacija i cloud </a:t>
            </a:r>
            <a:r>
              <a:rPr lang="hr-HR" dirty="0" err="1"/>
              <a:t>deploy</a:t>
            </a:r>
            <a:r>
              <a:rPr lang="hr-HR" dirty="0"/>
              <a:t> procesu (AWS, </a:t>
            </a:r>
            <a:r>
              <a:rPr lang="hr-HR" dirty="0" err="1"/>
              <a:t>Supabase</a:t>
            </a:r>
            <a:r>
              <a:rPr lang="hr-HR" dirty="0"/>
              <a:t>).</a:t>
            </a:r>
          </a:p>
          <a:p>
            <a:pPr lvl="2"/>
            <a:r>
              <a:rPr lang="hr-HR" dirty="0"/>
              <a:t>Kvalitetna dokumentacija omogućila je lakše razumijevanje projekta.</a:t>
            </a:r>
          </a:p>
          <a:p>
            <a:r>
              <a:rPr lang="hr-HR" sz="1600" b="1" dirty="0"/>
              <a:t>Što je moglo bolje:</a:t>
            </a:r>
            <a:endParaRPr lang="hr-HR" sz="1600" dirty="0"/>
          </a:p>
          <a:p>
            <a:pPr lvl="2"/>
            <a:r>
              <a:rPr lang="hr-HR" dirty="0"/>
              <a:t>Bolja organizacija zadataka i procjena vremena za izradu funkcionalnosti.</a:t>
            </a:r>
          </a:p>
          <a:p>
            <a:pPr lvl="2"/>
            <a:r>
              <a:rPr lang="hr-HR" dirty="0"/>
              <a:t>Više vremena posvetiti testiranju i sigurnosnim aspektima aplikacije.</a:t>
            </a:r>
          </a:p>
          <a:p>
            <a:pPr lvl="2"/>
            <a:r>
              <a:rPr lang="hr-HR" dirty="0"/>
              <a:t>Ranije definiranje ključnih zahtjeva i strukture aplikacije.</a:t>
            </a:r>
          </a:p>
          <a:p>
            <a:pPr lvl="2"/>
            <a:r>
              <a:rPr lang="hr-HR" dirty="0"/>
              <a:t>Optimizacija koda i bolja modularnost za buduće nadogradnje.</a:t>
            </a:r>
          </a:p>
          <a:p>
            <a:r>
              <a:rPr lang="hr-HR" sz="1600" b="1" dirty="0"/>
              <a:t>Što se nikako ne bi smjelo ponoviti:</a:t>
            </a:r>
            <a:endParaRPr lang="hr-HR" sz="1600" dirty="0"/>
          </a:p>
          <a:p>
            <a:pPr lvl="2"/>
            <a:r>
              <a:rPr lang="hr-HR" dirty="0"/>
              <a:t>Podcjenjivanje značajnosti dobre dokumentacije i prekasno dokumentiranje.</a:t>
            </a:r>
          </a:p>
          <a:p>
            <a:pPr lvl="2"/>
            <a:r>
              <a:rPr lang="hr-HR" dirty="0"/>
              <a:t>Nedovoljna razrada arhitekture prije početka implementacije.</a:t>
            </a:r>
          </a:p>
          <a:p>
            <a:pPr lvl="2"/>
            <a:r>
              <a:rPr lang="hr-HR" dirty="0"/>
              <a:t>Kašnjenja u ranim fazama razvoja zbog učenja novih tehnologija.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1403</TotalTime>
  <Words>1203</Words>
  <Application>Microsoft Office PowerPoint</Application>
  <PresentationFormat>Prikaz na zaslonu (4:3)</PresentationFormat>
  <Paragraphs>173</Paragraphs>
  <Slides>15</Slides>
  <Notes>4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15</vt:i4>
      </vt:variant>
    </vt:vector>
  </HeadingPairs>
  <TitlesOfParts>
    <vt:vector size="29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Room-RENTLY</vt:lpstr>
      <vt:lpstr>Sadržaj</vt:lpstr>
      <vt:lpstr>Sadržaj</vt:lpstr>
      <vt:lpstr>Članovi grupe</vt:lpstr>
      <vt:lpstr>O projektu</vt:lpstr>
      <vt:lpstr>Pregled zahtjeva</vt:lpstr>
      <vt:lpstr>PowerPoint prezentacija</vt:lpstr>
      <vt:lpstr>UML dijagram obrazaca uporabe</vt:lpstr>
      <vt:lpstr>PowerPoint prezentacija</vt:lpstr>
      <vt:lpstr>Arhitektura sustava</vt:lpstr>
      <vt:lpstr>Ispitivanje</vt:lpstr>
      <vt:lpstr>Korišteni alati i tehnologije</vt:lpstr>
      <vt:lpstr>Organizacija rada</vt:lpstr>
      <vt:lpstr>PowerPoint prezentacija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Noa Rešetar</cp:lastModifiedBy>
  <cp:revision>20</cp:revision>
  <dcterms:created xsi:type="dcterms:W3CDTF">2016-01-18T13:10:52Z</dcterms:created>
  <dcterms:modified xsi:type="dcterms:W3CDTF">2026-01-20T21:23:54Z</dcterms:modified>
</cp:coreProperties>
</file>